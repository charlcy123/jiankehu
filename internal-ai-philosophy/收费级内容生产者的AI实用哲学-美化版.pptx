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的分寸：只讲行业和作家，不指房间里的任何人。第二类人往往觉得用AI像偷懒、不好意思声张——顶尖作家都站在两边，说明这种分裂本身是正常的，不用羞耻，也不用站队。可以口头补一个细节：莫言那次让人用ChatGPT帮忙写颁奖词，给了关键词、设定了莎士比亚风格——技术圈的人说，这其实是一次很懂提示词工程的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事实核校】托卡尔丘克:2026年5月她在商业峰会透露付费订阅高级模型、用于创作中查资料,被误读为“用AI写小说”后,经出版商发声明澄清“只是研究工具”(新浪新闻/扬子晚报有报道)。网传“被喊话收回诺奖”无可靠报道,不要在台上说。刘慈欣:2025年2月京报网“我目前不会借助AI进行文学创作”“写出来的比我写的好多了”。莫言:2025年9月中国青年报“试过用AI搞创作,文章毫无情感和思想”。余华、陈楸帆、温特森《12 Bytes》均有公开报道/出版物。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今天不从“要不要用AI”讲起，先看处境：不管我们用不用，上下游已经全在用了。这件事倒逼我们想清楚两个问题——未来的工作流到底是什么，以及我们的价值到底是什么。后面整场都在回答这两个问题。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极大地降低了创作门槛，也意味着客户传统付费意愿会变低。如果我们继续在“提效”的思维里和别人卷，效率高了、收费低了，本质上还是变低了。有些门槛降低之后，另一些门槛一定会升高——那些变成高溢价的东西，才是我们要探索的。这一页只提问题，答案在第一部分结尾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媒体只需要对齐第一层，作者的标准可以无限拔上去。媒体内容多一层团队的品味和流程。收费级内容再多一层客户系统——而客户系统内部，对接人谈的和领导能批的，往往也不一致。一个收费级的内容，涉及对作者风格的理解、对选题行业的理解、对客户和客户团队的理解、对内部协作系统的理解。这是我们这行真正的复杂性所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收费级、高客单价的内容为什么难？因为它不是单一创作，而是作者标准、团队标准、客户标准、审批标准、行业标准的碰撞与协调。表达可以交给工具，对齐没法交给工具——这是下一页答案的铺垫。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问收口。AI生成的都是看起来不错的“平均线”内容，只有懂行，才能做精细化调整、打出差异化。你对模型细微的理解——不同模型的优势和边界——也属于隐性知识：同样用通用模型，懂行的人就是用得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点子的基本配方是：创建很多很多选项，然后选最好的一个。人的思维容易被框住，只要提示词够开放，AI有机会给出完全不同的思路——独特性永远稀缺。另一面是强制思维：我们已经懂的东西，常因为自己的视角限制想不到、落不了地，这时候让AI强制你换一个视角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故事重点讲：他原来担心自己没积累、写不了，拿到内容方向之后发现，要面对的只是技术型文体，不需要“从底层重新架构自我认知”，信心一下就有了。这页只讲显性化“带来什么”，不讲“怎么做”——怎么做不是今天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项目待定，建议截图预演保底、现场跑作加分。口头讲专家团的理念：想做到“别人知道你用AI也达不到”，需要自己的专属专家团——一开始2个，然后5个、7个专家，每个都有不断迭代的思维链和知识库，在实践里持续打磨人机协作。这样的系统别人很难复制，因为它是和你的工作长在一起的。对方用通用AI过我们的方案时，它没被引导，给的东西是可预测的；我们的定制系统给的东西，是他预测不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边界不是理念，是每个环节具体的✓和✗，而且每个人的答案都不一样。抱老师那句最值得展开：开头定一篇文章的基调，基调必须自己定，定好了再去调教AI会顺很多；结尾反而多用AI，它擅长把前文换个形式拔高。另外他补充过一句——以上都是职务写作，个人写作他坚决不用AI。这也呼应前面说的：位置可以自己选。（三位均为化名，是否进一步模糊身份信息现场把握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 Graham写过《写，和不写的人》：AI降低写作门槛之后，世界会分裂成写得很好的和完全不会写的，中间态逐渐消失。从约稿的实际观察看，确实如此。GPT是通用能力的提升，我们不可能在通用能力上超过它，所以必须发展垂直能力——行业里的隐性知识、专有方法论、专有积累。这样无论AI怎么发展，它都在放大你，而不是稀释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 Graham写过《写，和不写的人》：AI降低写作门槛之后，世界会分裂成写得很好的和完全不会写的，中间态逐渐消失。从约稿的实际观察看，确实如此。GPT是通用能力的提升，我们不可能在通用能力上超过它，所以必须发展垂直能力——行业里的隐性知识、专有方法论、专有积累。这样无论AI怎么发展，它都在放大你，而不是稀释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这页是价值观收束，不加新信息。语速放慢。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把微妙的东西作为规则慢慢加给它，这就是一个会慢慢变聪明的系统。最后一句只是观察，不引向任何号召——标准的沉淀急不来，先从自己的系统开始。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的可怕之处在于“配了文言文原文和出处”，一般人一眼就被糊弄过去。AI收集素材快、详实、全面，远超传统搜索，但它会投其所好，编造你想要的素材。素材必须反复核实——这直接引出下一页的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个人层和公共层切开讲：今天涉及“标准化”的，只有公共层的脏活，不碰任何人的个人判断。第四条数据边界：确认单位是否已有成文规定——有则引用条款，无则表述为“建议建立”。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488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00"/>
              </a:spcAft>
            </a:pPr>
            <a:r>
              <a:rPr sz="1300" b="1" i="0">
                <a:solidFill>
                  <a:srgbClr val="9FB4D8"/>
                </a:solidFill>
                <a:latin typeface="Microsoft YaHei"/>
                <a:ea typeface="Microsoft YaHei"/>
              </a:rPr>
              <a:t>内部分享 · 2026</a:t>
            </a:r>
          </a:p>
          <a:p>
            <a:pPr algn="ctr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Microsoft YaHei"/>
                <a:ea typeface="Microsoft YaHei"/>
              </a:rPr>
              <a:t>收费级内容生产者的</a:t>
            </a:r>
          </a:p>
          <a:p>
            <a:pPr algn="ctr">
              <a:spcAft>
                <a:spcPts val="18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</a:rPr>
              <a:t>AI 实用哲学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1576" y="4828032"/>
            <a:ext cx="685800" cy="38100"/>
          </a:xfrm>
          <a:prstGeom prst="rect">
            <a:avLst/>
          </a:prstGeom>
          <a:solidFill>
            <a:srgbClr val="9F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02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 i="0">
                <a:solidFill>
                  <a:srgbClr val="202328"/>
                </a:solidFill>
                <a:latin typeface="Microsoft YaHei"/>
                <a:ea typeface="Microsoft YaHei"/>
              </a:rPr>
              <a:t>这一行对AI的态度,是分裂的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据我和同行们交流,大致分三类: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3383280" cy="214884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0A2A5E"/>
                </a:solidFill>
                <a:latin typeface="Microsoft YaHei"/>
                <a:ea typeface="Microsoft YaHei"/>
              </a:rPr>
              <a:t>一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02328"/>
                </a:solidFill>
                <a:latin typeface="Microsoft YaHei"/>
                <a:ea typeface="Microsoft YaHei"/>
              </a:rPr>
              <a:t>完全不用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以“纯手搓”为荣。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331720"/>
            <a:ext cx="3383280" cy="214884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560320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0A2A5E"/>
                </a:solidFill>
                <a:latin typeface="Microsoft YaHei"/>
                <a:ea typeface="Microsoft YaHei"/>
              </a:rPr>
              <a:t>二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02328"/>
                </a:solidFill>
                <a:latin typeface="Microsoft YaHei"/>
                <a:ea typeface="Microsoft YaHei"/>
              </a:rPr>
              <a:t>适当使用,但不熟练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且大多数人觉得最好不要声张——因为它像是一种偷懒。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331720"/>
            <a:ext cx="3383280" cy="214884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560320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0A2A5E"/>
                </a:solidFill>
                <a:latin typeface="Microsoft YaHei"/>
                <a:ea typeface="Microsoft YaHei"/>
              </a:rPr>
              <a:t>三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02328"/>
                </a:solidFill>
                <a:latin typeface="Microsoft YaHei"/>
                <a:ea typeface="Microsoft YaHei"/>
              </a:rPr>
              <a:t>用得纯熟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把文章打磨得更好,甚至用它尝试了之前无法触及的领域。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202328"/>
                </a:solidFill>
                <a:latin typeface="Microsoft YaHei"/>
                <a:ea typeface="Microsoft YaHei"/>
              </a:rPr>
              <a:t>如何借助AI写得比“纯手搓”更好,而不是泛泛地使用它?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收费级内容创作者,我们的价值或稀缺性在哪里?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03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 i="0">
                <a:solidFill>
                  <a:srgbClr val="202328"/>
                </a:solidFill>
                <a:latin typeface="Microsoft YaHei"/>
                <a:ea typeface="Microsoft YaHei"/>
              </a:rPr>
              <a:t>作家们内部的情况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138928" cy="3977639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659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用 AI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托卡尔丘克　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6B7280"/>
                </a:solidFill>
                <a:latin typeface="Microsoft YaHei"/>
                <a:ea typeface="Microsoft YaHei"/>
              </a:rPr>
              <a:t>付费订阅高级模型,写新小说时用它查资料——被传成“用AI写小说”,发声明澄清“只是研究工具”。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陈楸帆　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6B7280"/>
                </a:solidFill>
                <a:latin typeface="Microsoft YaHei"/>
                <a:ea typeface="Microsoft YaHei"/>
              </a:rPr>
              <a:t>先让ChatGPT出研究综述,再用DeepSeek头脑风暴;刻意“对抗式写作”——避开模型建议的路径,逼出新思路。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珍妮特·温特森　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Microsoft YaHei"/>
                <a:ea typeface="Microsoft YaHei"/>
              </a:rPr>
              <a:t>把AI称作“另类智能”(《12 Bytes》):“我们最好的机会,是与AI合作——机器智能放大地映照出我们是谁。”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83080"/>
            <a:ext cx="5138928" cy="3977639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6B7280"/>
                </a:solidFill>
                <a:latin typeface="Microsoft YaHei"/>
                <a:ea typeface="Microsoft YaHei"/>
              </a:rPr>
              <a:t>不用 AI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莫言　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6B7280"/>
                </a:solidFill>
                <a:latin typeface="Microsoft YaHei"/>
                <a:ea typeface="Microsoft YaHei"/>
              </a:rPr>
              <a:t>试过让它写七律——觉得它没有感情、没有原创性。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余华　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6B7280"/>
                </a:solidFill>
                <a:latin typeface="Microsoft YaHei"/>
                <a:ea typeface="Microsoft YaHei"/>
              </a:rPr>
              <a:t>AI能写出中庸的小说,但写不出个性的小说。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刘慈欣　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Microsoft YaHei"/>
                <a:ea typeface="Microsoft YaHei"/>
              </a:rPr>
              <a:t>来不及写发言稿会请ChatGPT代写;AI续写让他“震惊地失落”。但坚持不用AI做文学创作——“写作的乐趣和成就感,是AI无法给我的。”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更大的背景:国外作家群体集体抵制,不允许把作品用于AI数据训练。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04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 i="0">
                <a:solidFill>
                  <a:srgbClr val="202328"/>
                </a:solidFill>
                <a:latin typeface="Microsoft YaHei"/>
                <a:ea typeface="Microsoft YaHei"/>
              </a:rPr>
              <a:t>背景变化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202328"/>
                </a:solidFill>
                <a:latin typeface="Microsoft YaHei"/>
                <a:ea typeface="Microsoft YaHei"/>
              </a:rPr>
              <a:t>客户在用AI提意见,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02328"/>
                </a:solidFill>
                <a:latin typeface="Microsoft YaHei"/>
                <a:ea typeface="Microsoft YaHei"/>
              </a:rPr>
              <a:t>销售同事在用AI看稿,</a:t>
            </a:r>
          </a:p>
          <a:p>
            <a:pPr>
              <a:spcAft>
                <a:spcPts val="2600"/>
              </a:spcAft>
            </a:pPr>
            <a:r>
              <a:rPr sz="1900" b="0" i="0">
                <a:solidFill>
                  <a:srgbClr val="202328"/>
                </a:solidFill>
                <a:latin typeface="Microsoft YaHei"/>
                <a:ea typeface="Microsoft YaHei"/>
              </a:rPr>
              <a:t>作者在用AI交稿。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202328"/>
                </a:solidFill>
                <a:latin typeface="Microsoft YaHei"/>
                <a:ea typeface="Microsoft YaHei"/>
              </a:rPr>
              <a:t>AI降低了内容门槛,但工作密度和内容的要求,其实在不断上升。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与小成本低门槛内容相比,呈现出两极分化的趋势。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核心问题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 i="0">
                <a:solidFill>
                  <a:srgbClr val="202328"/>
                </a:solidFill>
                <a:latin typeface="Microsoft YaHei"/>
                <a:ea typeface="Microsoft YaHei"/>
              </a:rPr>
              <a:t>核心问题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当大家都在用AI,</a:t>
            </a:r>
          </a:p>
          <a:p>
            <a:pPr>
              <a:spcAft>
                <a:spcPts val="1000"/>
              </a:spcAft>
            </a:pPr>
            <a:r>
              <a:rPr sz="2400" b="1" i="0">
                <a:solidFill>
                  <a:srgbClr val="0A2A5E"/>
                </a:solidFill>
                <a:latin typeface="Microsoft YaHei"/>
                <a:ea typeface="Microsoft YaHei"/>
              </a:rPr>
              <a:t>我们的内容为什么可以卖得更贵?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哪些能力会被AI贬值?哪些能力会被AI放大?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86200"/>
            <a:ext cx="5138928" cy="192024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6B7280"/>
                </a:solidFill>
                <a:latin typeface="Microsoft YaHei"/>
                <a:ea typeface="Microsoft YaHei"/>
              </a:rPr>
              <a:t>大部分人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6B7280"/>
                </a:solidFill>
                <a:latin typeface="Microsoft YaHei"/>
                <a:ea typeface="Microsoft YaHei"/>
              </a:rPr>
              <a:t>实现自己的 75%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让AI代替自己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86200"/>
            <a:ext cx="5138928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A2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0690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我们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0A2A5E"/>
                </a:solidFill>
                <a:latin typeface="Microsoft YaHei"/>
                <a:ea typeface="Microsoft YaHei"/>
              </a:rPr>
              <a:t>实现自己的 300%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202328"/>
                </a:solidFill>
                <a:latin typeface="Microsoft YaHei"/>
                <a:ea typeface="Microsoft YaHei"/>
              </a:rPr>
              <a:t>做出以前做不到的事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06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 i="0">
                <a:solidFill>
                  <a:srgbClr val="202328"/>
                </a:solidFill>
                <a:latin typeface="Microsoft YaHei"/>
                <a:ea typeface="Microsoft YaHei"/>
              </a:rPr>
              <a:t>收费级内容 = 多套系统的碰撞与妥协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66544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A2A5E"/>
                </a:solidFill>
                <a:latin typeface="Microsoft YaHei"/>
                <a:ea typeface="Microsoft YaHei"/>
              </a:rPr>
              <a:t>作者标准　</a:t>
            </a:r>
            <a:r>
              <a:rPr sz="1400" b="0" i="0">
                <a:solidFill>
                  <a:srgbClr val="202328"/>
                </a:solidFill>
                <a:latin typeface="Microsoft YaHei"/>
                <a:ea typeface="Microsoft YaHei"/>
              </a:rPr>
              <a:t>—— 选题 · 创意 · 个人风格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09544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A2A5E"/>
                </a:solidFill>
                <a:latin typeface="Microsoft YaHei"/>
                <a:ea typeface="Microsoft YaHei"/>
              </a:rPr>
              <a:t>媒体标准　</a:t>
            </a:r>
            <a:r>
              <a:rPr sz="1400" b="0" i="0">
                <a:solidFill>
                  <a:srgbClr val="202328"/>
                </a:solidFill>
                <a:latin typeface="Microsoft YaHei"/>
                <a:ea typeface="Microsoft YaHei"/>
              </a:rPr>
              <a:t>—— 团队的思考、审批流程、坚持的品味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0624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52544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A2A5E"/>
                </a:solidFill>
                <a:latin typeface="Microsoft YaHei"/>
                <a:ea typeface="Microsoft YaHei"/>
              </a:rPr>
              <a:t>客户标准　</a:t>
            </a:r>
            <a:r>
              <a:rPr sz="1400" b="0" i="0">
                <a:solidFill>
                  <a:srgbClr val="202328"/>
                </a:solidFill>
                <a:latin typeface="Microsoft YaHei"/>
                <a:ea typeface="Microsoft YaHei"/>
              </a:rPr>
              <a:t>—— 高度定制化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3492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└ 客户内部又裂成几套:　</a:t>
            </a: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对接人的标准</a:t>
            </a: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 ≠ </a:t>
            </a: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领导的标准</a:t>
            </a: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 ≠ </a:t>
            </a: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市场部的标准</a:t>
            </a: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 ≠ </a:t>
            </a:r>
            <a:r>
              <a:rPr sz="1300" b="1" i="0">
                <a:solidFill>
                  <a:srgbClr val="202328"/>
                </a:solidFill>
                <a:latin typeface="Microsoft YaHei"/>
                <a:ea typeface="Microsoft YaHei"/>
              </a:rPr>
              <a:t>审批的标准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07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202328"/>
                </a:solidFill>
                <a:latin typeface="Microsoft YaHei"/>
                <a:ea typeface="Microsoft YaHei"/>
              </a:rPr>
              <a:t>普通内容解决表达问题,</a:t>
            </a:r>
          </a:p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A2A5E"/>
                </a:solidFill>
                <a:latin typeface="Microsoft YaHei"/>
                <a:ea typeface="Microsoft YaHei"/>
              </a:rPr>
              <a:t>收费级内容解决对齐问题。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1576" y="4315968"/>
            <a:ext cx="68580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对齐什么——作者写作风格 ｜ 选题所在行业 ｜ 客户与客户团队 ｜ 内部管理协作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08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 i="0">
                <a:solidFill>
                  <a:srgbClr val="202328"/>
                </a:solidFill>
                <a:latin typeface="Microsoft YaHei"/>
                <a:ea typeface="Microsoft YaHei"/>
              </a:rPr>
              <a:t>对齐,靠的是隐性知识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1" i="0">
                <a:solidFill>
                  <a:srgbClr val="202328"/>
                </a:solidFill>
                <a:latin typeface="Microsoft YaHei"/>
                <a:ea typeface="Microsoft YaHei"/>
              </a:rPr>
              <a:t>隐性知识　</a:t>
            </a: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—— 说不清道不明、但一出手就有的判断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202328"/>
                </a:solidFill>
                <a:latin typeface="Microsoft YaHei"/>
                <a:ea typeface="Microsoft YaHei"/>
              </a:rPr>
              <a:t>行业经验　</a:t>
            </a: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—— 知道哪些是空谈,哪些能落地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202328"/>
                </a:solidFill>
                <a:latin typeface="Microsoft YaHei"/>
                <a:ea typeface="Microsoft YaHei"/>
              </a:rPr>
              <a:t>专有思维框架　</a:t>
            </a: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—— 在跨领域经验里长出来的判断结构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202328"/>
                </a:solidFill>
                <a:latin typeface="Microsoft YaHei"/>
                <a:ea typeface="Microsoft YaHei"/>
              </a:rPr>
              <a:t>不断打磨的定制化AI　</a:t>
            </a: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—— 把以上三样持续喂进去的系统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0A2A5E"/>
                </a:solidFill>
                <a:latin typeface="Microsoft YaHei"/>
                <a:ea typeface="Microsoft YaHei"/>
              </a:rPr>
              <a:t>AI进化得越强,隐性知识就越值钱。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09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通过隐性知识显性化,打造自己的专属AI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内容生产里,有很多说不清的判断: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02328"/>
                </a:solidFill>
                <a:latin typeface="Microsoft YaHei"/>
                <a:ea typeface="Microsoft YaHei"/>
              </a:rPr>
              <a:t>“这个植入有点软。”　“这个标题有点硬。”　“有创意,但审批过不了。”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显性化 = 把这些判断,拆成AI可调用的　标准 · 样例 · 反例 · 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显性化之后,AI能帮你做的两件事: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5138928" cy="160020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拓宽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生成海量选项,你来选最好的。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977639"/>
            <a:ext cx="5138928" cy="160020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16052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0A2A5E"/>
                </a:solidFill>
                <a:latin typeface="Microsoft YaHei"/>
                <a:ea typeface="Microsoft YaHei"/>
              </a:rPr>
              <a:t>强制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切换到你默认视角之外的视角。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1">
                <a:solidFill>
                  <a:srgbClr val="6B7280"/>
                </a:solidFill>
                <a:latin typeface="Microsoft YaHei"/>
                <a:ea typeface="Microsoft YaHei"/>
              </a:rPr>
              <a:t>香农信息论的核心:信息,是对不确定性的消除。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举例:做出自己的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A2A5E"/>
                </a:solidFill>
                <a:latin typeface="Microsoft YaHei"/>
                <a:ea typeface="Microsoft YaHei"/>
              </a:rPr>
              <a:t>训练AI的过程,本质是在训练自己的思考能力、挖掘隐性知识。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一位合作作者的三个真实变化: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34640"/>
            <a:ext cx="3383280" cy="283464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0A2A5E"/>
                </a:solidFill>
                <a:latin typeface="Microsoft YaHei"/>
                <a:ea typeface="Microsoft YaHei"/>
              </a:rPr>
              <a:t>1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202328"/>
                </a:solidFill>
                <a:latin typeface="Microsoft YaHei"/>
                <a:ea typeface="Microsoft YaHei"/>
              </a:rPr>
              <a:t>提炼出自己都无意识的规律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Microsoft YaHei"/>
                <a:ea typeface="Microsoft YaHei"/>
              </a:rPr>
              <a:t>把旧作喂给AI分析,提炼出了作者本人没意识到的东西;照此搭新稿骨架,比从零打地基快得多。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834640"/>
            <a:ext cx="3383280" cy="283464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306324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0A2A5E"/>
                </a:solidFill>
                <a:latin typeface="Microsoft YaHei"/>
                <a:ea typeface="Microsoft YaHei"/>
              </a:rPr>
              <a:t>2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202328"/>
                </a:solidFill>
                <a:latin typeface="Microsoft YaHei"/>
                <a:ea typeface="Microsoft YaHei"/>
              </a:rPr>
              <a:t>强制切换视角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Microsoft YaHei"/>
                <a:ea typeface="Microsoft YaHei"/>
              </a:rPr>
              <a:t>梳理出了视角之外的场景和趋势,并帮助你执行强制性思维。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834640"/>
            <a:ext cx="3383280" cy="283464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306324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0A2A5E"/>
                </a:solidFill>
                <a:latin typeface="Microsoft YaHei"/>
                <a:ea typeface="Microsoft YaHei"/>
              </a:rPr>
              <a:t>3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202328"/>
                </a:solidFill>
                <a:latin typeface="Microsoft YaHei"/>
                <a:ea typeface="Microsoft YaHei"/>
              </a:rPr>
              <a:t>降低启动门槛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Microsoft YaHei"/>
                <a:ea typeface="Microsoft YaHei"/>
              </a:rPr>
              <a:t>原本心里没底,有了AI的辅助,知道要写什么。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现场对比:通用型 vs 定制型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02328"/>
                </a:solidFill>
                <a:latin typeface="Microsoft YaHei"/>
                <a:ea typeface="Microsoft YaHei"/>
              </a:rPr>
              <a:t>通用AI的回复是可预测的——我们当场验证。同一个 brief: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513892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8AE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Microsoft YaHei"/>
                <a:ea typeface="Microsoft YaHei"/>
              </a:rPr>
              <a:t>通用型AI给出的回复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A8AEB8"/>
                </a:solidFill>
                <a:latin typeface="Microsoft YaHei"/>
                <a:ea typeface="Microsoft YaHei"/>
              </a:rPr>
              <a:t>截 图 待 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A8AEB8"/>
                </a:solidFill>
                <a:latin typeface="Microsoft YaHei"/>
                <a:ea typeface="Microsoft YaHei"/>
              </a:rPr>
              <a:t>Generic · 未被引导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377440"/>
            <a:ext cx="513892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8AE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5786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Microsoft YaHei"/>
                <a:ea typeface="Microsoft YaHei"/>
              </a:rPr>
              <a:t>定制流程给出的回复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703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A8AEB8"/>
                </a:solidFill>
                <a:latin typeface="Microsoft YaHei"/>
                <a:ea typeface="Microsoft YaHei"/>
              </a:rPr>
              <a:t>截 图 待 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A8AEB8"/>
                </a:solidFill>
                <a:latin typeface="Microsoft YaHei"/>
                <a:ea typeface="Microsoft YaHei"/>
              </a:rPr>
              <a:t>Custom · 和工作长在一起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9FB4D8"/>
                </a:solidFill>
                <a:latin typeface="Microsoft YaHei"/>
                <a:ea typeface="Microsoft YaHei"/>
              </a:rPr>
              <a:t>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00"/>
              </a:spcAft>
            </a:pPr>
            <a:r>
              <a:rPr sz="1500" b="0" i="0">
                <a:solidFill>
                  <a:srgbClr val="A8AEB8"/>
                </a:solidFill>
                <a:latin typeface="Microsoft YaHei"/>
                <a:ea typeface="Microsoft YaHei"/>
              </a:rPr>
              <a:t>一、通过隐性知识显性化,打造自己的专属AI ✓</a:t>
            </a:r>
          </a:p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</a:rPr>
              <a:t>二、和我们的写作流深度融合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1576" y="4709160"/>
            <a:ext cx="685800" cy="38100"/>
          </a:xfrm>
          <a:prstGeom prst="rect">
            <a:avLst/>
          </a:prstGeom>
          <a:solidFill>
            <a:srgbClr val="9F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三位作者的写作流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93268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</a:rPr>
              <a:t>✓ 交给AI　✕ 绝不交　△ 人机结合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81328"/>
            <a:ext cx="3383280" cy="4224528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664208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斯老师 · 美食杂志主编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1 日常记录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2 选题背景调研 ✓</a:t>
            </a:r>
          </a:p>
          <a:p>
            <a:pPr>
              <a:spcAft>
                <a:spcPts val="350"/>
              </a:spcAft>
            </a:pPr>
            <a:r>
              <a:rPr sz="1050" b="0" i="0">
                <a:solidFill>
                  <a:srgbClr val="6B7280"/>
                </a:solidFill>
                <a:latin typeface="Microsoft YaHei"/>
                <a:ea typeface="Microsoft YaHei"/>
              </a:rPr>
              <a:t>　(INTP,这一步耽搁90%时间)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3 起草大纲 ✕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4 采访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5 整理录音 ✓</a:t>
            </a:r>
          </a:p>
          <a:p>
            <a:pPr>
              <a:spcAft>
                <a:spcPts val="350"/>
              </a:spcAft>
            </a:pPr>
            <a:r>
              <a:rPr sz="1050" b="0" i="0">
                <a:solidFill>
                  <a:srgbClr val="6B7280"/>
                </a:solidFill>
                <a:latin typeface="Microsoft YaHei"/>
                <a:ea typeface="Microsoft YaHei"/>
              </a:rPr>
              <a:t>　(超1小时的对话整理重点+思维导图)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6 收集故事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7 deadline前2分钟完稿 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81328"/>
            <a:ext cx="3383280" cy="4224528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664208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詹老师 · 人类学作者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1 选题创意 ✓</a:t>
            </a:r>
          </a:p>
          <a:p>
            <a:pPr>
              <a:spcAft>
                <a:spcPts val="350"/>
              </a:spcAft>
            </a:pPr>
            <a:r>
              <a:rPr sz="1050" b="0" i="0">
                <a:solidFill>
                  <a:srgbClr val="6B7280"/>
                </a:solidFill>
                <a:latin typeface="Microsoft YaHei"/>
                <a:ea typeface="Microsoft YaHei"/>
              </a:rPr>
              <a:t>　(“内阁制”:同一问题每个AI轮一遍,</a:t>
            </a:r>
          </a:p>
          <a:p>
            <a:pPr>
              <a:spcAft>
                <a:spcPts val="350"/>
              </a:spcAft>
            </a:pPr>
            <a:r>
              <a:rPr sz="1050" b="0" i="0">
                <a:solidFill>
                  <a:srgbClr val="6B7280"/>
                </a:solidFill>
                <a:latin typeface="Microsoft YaHei"/>
                <a:ea typeface="Microsoft YaHei"/>
              </a:rPr>
              <a:t>　综合大臣们的意见,自己拍板)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2 定方向 ✕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3 大纲思路 ✕(手搓)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4 辅助表达 ✓(在两三个AI之间跳着改)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5 后期·定稿 ✕</a:t>
            </a:r>
          </a:p>
          <a:p>
            <a:pPr>
              <a:spcAft>
                <a:spcPts val="350"/>
              </a:spcAft>
            </a:pPr>
            <a:r>
              <a:rPr sz="1050" b="0" i="0">
                <a:solidFill>
                  <a:srgbClr val="6B7280"/>
                </a:solidFill>
                <a:latin typeface="Microsoft YaHei"/>
                <a:ea typeface="Microsoft YaHei"/>
              </a:rPr>
              <a:t>　“最后一两天只欠一个输出,</a:t>
            </a:r>
          </a:p>
          <a:p>
            <a:pPr>
              <a:spcAft>
                <a:spcPts val="350"/>
              </a:spcAft>
            </a:pPr>
            <a:r>
              <a:rPr sz="1050" b="0" i="0">
                <a:solidFill>
                  <a:srgbClr val="6B7280"/>
                </a:solidFill>
                <a:latin typeface="Microsoft YaHei"/>
                <a:ea typeface="Microsoft YaHei"/>
              </a:rPr>
              <a:t>　定稿时我就自己来了。”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481328"/>
            <a:ext cx="3383280" cy="4224528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64208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抱老师 · 报社特稿记者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1 确定选题 △(人机结合)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2 搜集素材 ✓(必须反复核实)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3 明确方向 △(跟AI讨论,人拍板)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4 写提纲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5 开头 ✕(80–90%不用AI,基调必须自己定)</a:t>
            </a:r>
          </a:p>
          <a:p>
            <a:pPr>
              <a:spcAft>
                <a:spcPts val="350"/>
              </a:spcAft>
            </a:pPr>
            <a:r>
              <a:rPr sz="1050" b="0" i="0">
                <a:solidFill>
                  <a:srgbClr val="6B7280"/>
                </a:solidFill>
                <a:latin typeface="Microsoft YaHei"/>
                <a:ea typeface="Microsoft YaHei"/>
              </a:rPr>
              <a:t>　结尾 ✓(AI擅长把前文换形式拔高,</a:t>
            </a:r>
          </a:p>
          <a:p>
            <a:pPr>
              <a:spcAft>
                <a:spcPts val="350"/>
              </a:spcAft>
            </a:pPr>
            <a:r>
              <a:rPr sz="1050" b="0" i="0">
                <a:solidFill>
                  <a:srgbClr val="6B7280"/>
                </a:solidFill>
                <a:latin typeface="Microsoft YaHei"/>
                <a:ea typeface="Microsoft YaHei"/>
              </a:rPr>
              <a:t>　“正确的废话”放在商业稿里反而有用)</a:t>
            </a:r>
          </a:p>
          <a:p>
            <a:pPr>
              <a:spcAft>
                <a:spcPts val="350"/>
              </a:spcAft>
            </a:pPr>
            <a:r>
              <a:rPr sz="1150" b="0" i="0">
                <a:solidFill>
                  <a:srgbClr val="202328"/>
                </a:solidFill>
                <a:latin typeface="Microsoft YaHei"/>
                <a:ea typeface="Microsoft YaHei"/>
              </a:rPr>
              <a:t>6 成稿优化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A2A5E"/>
                </a:solidFill>
                <a:latin typeface="Microsoft YaHei"/>
                <a:ea typeface="Microsoft YaHei"/>
              </a:rPr>
              <a:t>AI一定要和工作流深度融合,才是真实的需求。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内容创作者的AI使用哲学 · 怎么判断哪些环节用AI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一、十倍测试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202328"/>
                </a:solidFill>
                <a:latin typeface="Microsoft YaHei"/>
                <a:ea typeface="Microsoft YaHei"/>
              </a:rPr>
              <a:t>当AI的能力比现在强十倍,你做的事情,是会被放大,还是被稀释?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5138928" cy="210312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6B7280"/>
                </a:solidFill>
                <a:latin typeface="Microsoft YaHei"/>
                <a:ea typeface="Microsoft YaHei"/>
              </a:rPr>
              <a:t>被稀释的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显性知识 · 通用写作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</a:rPr>
              <a:t>普通总结 · 常规方案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514600"/>
            <a:ext cx="513892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A2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7432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被放大的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02328"/>
                </a:solidFill>
                <a:latin typeface="Microsoft YaHei"/>
                <a:ea typeface="Microsoft YaHei"/>
              </a:rPr>
              <a:t>隐性知识 · 行业判断 · 客户理解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02328"/>
                </a:solidFill>
                <a:latin typeface="Microsoft YaHei"/>
                <a:ea typeface="Microsoft YaHei"/>
              </a:rPr>
              <a:t>审美标准 · 专有方法论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202328"/>
                </a:solidFill>
                <a:latin typeface="Microsoft YaHei"/>
                <a:ea typeface="Microsoft YaHei"/>
              </a:rPr>
              <a:t>AI是最大公约数的投影。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0A2A5E"/>
                </a:solidFill>
                <a:latin typeface="Microsoft YaHei"/>
                <a:ea typeface="Microsoft YaHei"/>
              </a:rPr>
              <a:t>最大的危险不是取代我们,而是诱惑我们停留在平均值。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内容创作者的AI使用哲学 · 怎么判断哪些环节用AI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二、AI要用在懂行的地方,而不是不懂的地方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202328"/>
                </a:solidFill>
                <a:latin typeface="Microsoft YaHei"/>
                <a:ea typeface="Microsoft YaHei"/>
              </a:rPr>
              <a:t>AI生成的都是看起来不错的“平均线”内容,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02328"/>
                </a:solidFill>
                <a:latin typeface="Microsoft YaHei"/>
                <a:ea typeface="Microsoft YaHei"/>
              </a:rPr>
              <a:t>但只有懂行,才能进行精细化调整,打造差异化。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5262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0A2A5E"/>
                </a:solidFill>
                <a:latin typeface="Microsoft YaHei"/>
                <a:ea typeface="Microsoft YaHei"/>
              </a:rPr>
              <a:t>使用AI的护城河,是别人知道你用AI,也达不到你的效果。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内容创作者的AI使用哲学 · 守什么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三、定义AI时代要吃的苦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02328"/>
                </a:solidFill>
                <a:latin typeface="Microsoft YaHei"/>
                <a:ea typeface="Microsoft YaHei"/>
              </a:rPr>
              <a:t>AI时代最大的诱惑,是可以更省力地做很多事。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0A2A5E"/>
                </a:solidFill>
                <a:latin typeface="Microsoft YaHei"/>
                <a:ea typeface="Microsoft YaHei"/>
              </a:rPr>
              <a:t>但真正定义我们价值的,是主动进入的窄门。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5138928" cy="169164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Microsoft YaHei"/>
                <a:ea typeface="Microsoft YaHei"/>
              </a:rPr>
              <a:t>通用型AI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Microsoft YaHei"/>
                <a:ea typeface="Microsoft YaHei"/>
              </a:rPr>
              <a:t>越用越容易,但自己的价值越来越低。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063240"/>
            <a:ext cx="5138928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A2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291840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专属型AI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202328"/>
                </a:solidFill>
                <a:latin typeface="Microsoft YaHei"/>
                <a:ea typeface="Microsoft YaHei"/>
              </a:rPr>
              <a:t>打磨的过程痛苦,但那才是自己的价值。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比如:让AI分析完自己的旧稿,再自己复述一遍它提炼出了什么——慢一点,但思考能力留在自己身上。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02328"/>
                </a:solidFill>
                <a:latin typeface="Microsoft YaHei"/>
                <a:ea typeface="Microsoft YaHei"/>
              </a:rPr>
              <a:t>算力再强,取舍和责任,仍然在人。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怎么做 · 让系统慢慢变聪明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让AI越用越好用的3个技巧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Microsoft YaHei"/>
                <a:ea typeface="Microsoft YaHei"/>
              </a:rPr>
              <a:t>每写完一篇稿,问一句: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0A2A5E"/>
                </a:solidFill>
                <a:latin typeface="Microsoft YaHei"/>
                <a:ea typeface="Microsoft YaHei"/>
              </a:rPr>
              <a:t>这次有什么反复出现的问题,可以优化进系统?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154679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01　</a:t>
            </a:r>
            <a:r>
              <a:rPr sz="1500" b="1" i="0">
                <a:solidFill>
                  <a:srgbClr val="202328"/>
                </a:solidFill>
                <a:latin typeface="Microsoft YaHei"/>
                <a:ea typeface="Microsoft YaHei"/>
              </a:rPr>
              <a:t>skill 可以不断优化　</a:t>
            </a: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—— 使用过程中,把一些微妙的东西加给它。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50791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87952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02　</a:t>
            </a:r>
            <a:r>
              <a:rPr sz="1500" b="1" i="0">
                <a:solidFill>
                  <a:srgbClr val="202328"/>
                </a:solidFill>
                <a:latin typeface="Microsoft YaHei"/>
                <a:ea typeface="Microsoft YaHei"/>
              </a:rPr>
              <a:t>每写完一篇稿件后复盘迭代　</a:t>
            </a: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—— 问AI:这次有什么反复出现的问题,可以优化进skill?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84064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221224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03　</a:t>
            </a:r>
            <a:r>
              <a:rPr sz="1500" b="1" i="0">
                <a:solidFill>
                  <a:srgbClr val="202328"/>
                </a:solidFill>
                <a:latin typeface="Microsoft YaHei"/>
                <a:ea typeface="Microsoft YaHei"/>
              </a:rPr>
              <a:t>把 skill 备份在本地或 iCloud　</a:t>
            </a: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—— 这样不怕账号出问题。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守什么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AI倾向于取悦人,人需要为结果负责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202328"/>
                </a:solidFill>
                <a:latin typeface="Microsoft YaHei"/>
                <a:ea typeface="Microsoft YaHei"/>
              </a:rPr>
              <a:t>它被训练成让一切读起来连贯——所以它会取悦你;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02328"/>
                </a:solidFill>
                <a:latin typeface="Microsoft YaHei"/>
                <a:ea typeface="Microsoft YaHei"/>
              </a:rPr>
              <a:t>事情里有微妙的复杂判断,而重要性由使用者定义;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02328"/>
                </a:solidFill>
                <a:latin typeface="Microsoft YaHei"/>
                <a:ea typeface="Microsoft YaHei"/>
              </a:rPr>
              <a:t>它知道的一切,都来自过去的信息。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10515600" cy="196596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005072"/>
            <a:ext cx="9875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真实案例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02328"/>
                </a:solidFill>
                <a:latin typeface="Microsoft YaHei"/>
                <a:ea typeface="Microsoft YaHei"/>
              </a:rPr>
              <a:t>一位记者查鸦片战争时期上海火药局爆炸,AI给出大量“史料”,配有文言文原文和出处标注——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02328"/>
                </a:solidFill>
                <a:latin typeface="Microsoft YaHei"/>
                <a:ea typeface="Microsoft YaHei"/>
              </a:rPr>
              <a:t>90%是编造的。伪装度极高。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A2A5E"/>
                </a:solidFill>
                <a:latin typeface="Microsoft YaHei"/>
                <a:ea typeface="Microsoft YaHei"/>
              </a:rPr>
              <a:t>守什么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82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EB8"/>
                </a:solidFill>
                <a:latin typeface="Microsoft YaHei"/>
                <a:ea typeface="Microsoft YaHei"/>
              </a:rPr>
              <a:t>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202328"/>
                </a:solidFill>
                <a:latin typeface="Microsoft YaHei"/>
                <a:ea typeface="Microsoft YaHei"/>
              </a:rPr>
              <a:t>收费级内容的AI纪律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1554480"/>
            <a:ext cx="502920" cy="381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02328"/>
                </a:solidFill>
                <a:latin typeface="Microsoft YaHei"/>
                <a:ea typeface="Microsoft YaHei"/>
              </a:rPr>
              <a:t>越是收费级,越需要人扛住最后一道核查。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01　</a:t>
            </a:r>
            <a:r>
              <a:rPr sz="1500" b="1" i="0">
                <a:solidFill>
                  <a:srgbClr val="202328"/>
                </a:solidFill>
                <a:latin typeface="Microsoft YaHei"/>
                <a:ea typeface="Microsoft YaHei"/>
              </a:rPr>
              <a:t>事实与引文核验　</a:t>
            </a: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—— AI给的出处,必须溯源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02　</a:t>
            </a:r>
            <a:r>
              <a:rPr sz="1500" b="1" i="0">
                <a:solidFill>
                  <a:srgbClr val="202328"/>
                </a:solidFill>
                <a:latin typeface="Microsoft YaHei"/>
                <a:ea typeface="Microsoft YaHei"/>
              </a:rPr>
              <a:t>广告法合规　</a:t>
            </a: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—— 收费内容的硬约束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03　</a:t>
            </a:r>
            <a:r>
              <a:rPr sz="1500" b="1" i="0">
                <a:solidFill>
                  <a:srgbClr val="202328"/>
                </a:solidFill>
                <a:latin typeface="Microsoft YaHei"/>
                <a:ea typeface="Microsoft YaHei"/>
              </a:rPr>
              <a:t>AI味排查　</a:t>
            </a: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—— 没处理干净的AI遗迹,读者一眼拉黑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0A2A5E"/>
                </a:solidFill>
                <a:latin typeface="Microsoft YaHei"/>
                <a:ea typeface="Microsoft YaHei"/>
              </a:rPr>
              <a:t>04　</a:t>
            </a:r>
            <a:r>
              <a:rPr sz="1500" b="1" i="0">
                <a:solidFill>
                  <a:srgbClr val="202328"/>
                </a:solidFill>
                <a:latin typeface="Microsoft YaHei"/>
                <a:ea typeface="Microsoft YaHei"/>
              </a:rPr>
              <a:t>数据边界　</a:t>
            </a: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—— 客户未公开信息、未发布稿件,不进公开模型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5138928" cy="160020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02328"/>
                </a:solidFill>
                <a:latin typeface="Microsoft YaHei"/>
                <a:ea typeface="Microsoft YaHei"/>
              </a:rPr>
              <a:t>个人层,是你自己的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</a:rPr>
              <a:t>风格、审美、选题直觉是你的护城河,不需要交给任何系统。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4526280"/>
            <a:ext cx="5138928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A2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7091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0A2A5E"/>
                </a:solidFill>
                <a:latin typeface="Microsoft YaHei"/>
                <a:ea typeface="Microsoft YaHei"/>
              </a:rPr>
              <a:t>公共层,标准化是解放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</a:rPr>
              <a:t>合规、核查、格式这类“脏活”,标准化了对所有人都是解放。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060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</a:rPr>
              <a:t>祝大家写得越来越好,</a:t>
            </a:r>
          </a:p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9FB4D8"/>
                </a:solidFill>
                <a:latin typeface="Microsoft YaHei"/>
                <a:ea typeface="Microsoft YaHei"/>
              </a:rPr>
              <a:t>赚得越来越多。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1576" y="4617720"/>
            <a:ext cx="685800" cy="38100"/>
          </a:xfrm>
          <a:prstGeom prst="rect">
            <a:avLst/>
          </a:prstGeom>
          <a:solidFill>
            <a:srgbClr val="9F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